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0B0F0-C226-4B90-A7B0-3B7B6319776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76E2-96B5-4EB5-93DD-EA47A08A1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6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76E2-96B5-4EB5-93DD-EA47A08A12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817F-FA09-994E-D5DC-0D53DE181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1E52A-5070-81FB-6594-B7FE59884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BC011-5E1D-FDE0-44C5-7017E496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D5B4-1232-1730-5297-9F49997C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833B0-175E-EC25-83A0-3E757B54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9783-A335-17A3-5D4F-7E0D541E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76353-E618-5CE2-79C9-42739FF2F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50805-2F1C-61B7-C263-E8069CAC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A0F9-D619-F674-52B5-D53F5134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5E714-80ED-02B9-706A-938C2506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5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F235-30B3-DE83-A9D1-3D023CB4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BF251-2295-B4F5-04D4-770A4AA5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56D12-C439-CC82-C334-7D3892F8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4CB0C-4A39-B7CE-481F-6F6D96D2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F915-8805-1EAA-2B54-10A22AD7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1935-6F72-8172-9685-994E5119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142F-E2D6-5F9F-4351-D6C804A57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369E5-F4CB-33AC-2C9F-9436735ED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FDE25-2451-9D53-E6AA-0A6F22E9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99FDE-9D95-D522-F2F6-07E142EB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E0C93-D15F-4AC2-EDB7-4BB36CB5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1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D0532-E3A3-BCDD-4960-895FC40D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19C59-BE43-B09C-EEB8-28B98A18E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8A403-BEC1-EE16-518D-36636C024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8E84A-DAE8-CDD2-03D8-3D2AED942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6160C-B126-91DC-B3A1-307F3D969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5D319-F498-1C99-213A-BDA9A5AE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806DD-7D7F-5064-4E44-62339FCB2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09D6D-9887-19A3-38B8-C3AC4971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C205-9E41-CC8F-0CFC-987E835E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6D116-DF0D-C224-7B77-B2371EDE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8E399-625B-99E4-69C5-F5B85477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53F77-BB0C-6318-E62F-8BBF4CDD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0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C3EA6-86FA-CE4E-92AF-5F107FAF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99ACC-E28B-E31B-B3E7-4F71F195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2BE69-8050-921D-362A-36130A01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7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497C-DBEB-B91E-7484-0157ECCC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1821-7FDA-EDBD-B899-2A7A8AFA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9BA59-2D37-6FD6-CC1F-F41D8B81F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551CF-39C7-D600-9E81-31FAA092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4AAD2-A577-EF0A-83DB-8DF913C4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D6BFA-9DFD-4539-2B66-B3055FF3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C1C35-0542-4FF7-5002-676C1ECB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CDE73-8552-D814-9CF5-6667003CB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EA0DD-6846-5BEC-F79C-272ECF7F5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0DDF2-49CF-6513-87E2-DF6D2D3A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DD248-514A-E9A2-ED4A-B1B48CA1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BC2AD-915C-AE32-B4FE-1A625B72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17E6-9E82-31E5-0D9E-9D8DC98D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EEB8F-6A17-8C19-DC49-81FDA1584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B2DC-5920-7AC9-8851-F9CC14C4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7848C-4330-204B-27CC-365D103B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55785-BED9-B40D-0949-40C174C7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2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0743A-7493-00CB-1E7C-13166C5F1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5D12B-F8D8-E563-7FA5-F50917F0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A26C7-6946-C8A5-39C8-DE0C90C6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691F-4C96-608F-86BB-27FC76BD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3625F-E99C-58C0-14C8-D43CDDC5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3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0F23A-7185-5574-4AD3-D1C0DB67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70B97-8B41-F347-DF6A-80BBEE87B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83C0-23A5-11B1-480E-7E36700FF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68A28-7578-42BB-9BFF-6478A29F946F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1B49-B771-B383-F3DC-923BBEE1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5D36E-19EE-98FC-7BF8-32D1AB804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CCA71-B26D-46C7-884C-BE0369886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7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7988-011C-D094-7B15-B733EE302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Investigation into network security countermeasures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1FBE1-4D2C-4300-9CFF-AA9E85053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setup and configuration of a secure network environment, which includes the OpenSSH server, the Cowrie honeypot, and the iptables firewall.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2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A5D0D-7535-B89B-FE87-6DAAC2AC5943}"/>
              </a:ext>
            </a:extLst>
          </p:cNvPr>
          <p:cNvSpPr txBox="1"/>
          <p:nvPr/>
        </p:nvSpPr>
        <p:spPr>
          <a:xfrm>
            <a:off x="1186541" y="160283"/>
            <a:ext cx="9720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logical/conceptual diagram of the Implemented System</a:t>
            </a:r>
          </a:p>
        </p:txBody>
      </p:sp>
      <p:pic>
        <p:nvPicPr>
          <p:cNvPr id="4" name="Graphic 3" descr="Computer with solid fill">
            <a:extLst>
              <a:ext uri="{FF2B5EF4-FFF2-40B4-BE49-F238E27FC236}">
                <a16:creationId xmlns:a16="http://schemas.microsoft.com/office/drawing/2014/main" id="{34D45154-7FD2-F6D7-0DD3-172932CF1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4656" y="533057"/>
            <a:ext cx="1219201" cy="1219201"/>
          </a:xfrm>
          <a:prstGeom prst="rect">
            <a:avLst/>
          </a:prstGeom>
        </p:spPr>
      </p:pic>
      <p:pic>
        <p:nvPicPr>
          <p:cNvPr id="8" name="Picture 7" descr="A firewall with a fire symbol&#10;&#10;AI-generated content may be incorrect.">
            <a:extLst>
              <a:ext uri="{FF2B5EF4-FFF2-40B4-BE49-F238E27FC236}">
                <a16:creationId xmlns:a16="http://schemas.microsoft.com/office/drawing/2014/main" id="{EB9CE077-0E0D-8025-D4C1-DF5DB3CB8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864" y="2455657"/>
            <a:ext cx="2558143" cy="1706366"/>
          </a:xfrm>
          <a:prstGeom prst="rect">
            <a:avLst/>
          </a:prstGeom>
        </p:spPr>
      </p:pic>
      <p:pic>
        <p:nvPicPr>
          <p:cNvPr id="10" name="Picture 9" descr="A jar of honey with a stick and a stick with people in the background&#10;&#10;AI-generated content may be incorrect.">
            <a:extLst>
              <a:ext uri="{FF2B5EF4-FFF2-40B4-BE49-F238E27FC236}">
                <a16:creationId xmlns:a16="http://schemas.microsoft.com/office/drawing/2014/main" id="{667F7067-9800-8AF9-B8C8-7439112D7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545" y="4984951"/>
            <a:ext cx="1852202" cy="1156711"/>
          </a:xfrm>
          <a:prstGeom prst="rect">
            <a:avLst/>
          </a:prstGeom>
        </p:spPr>
      </p:pic>
      <p:pic>
        <p:nvPicPr>
          <p:cNvPr id="11" name="Graphic 10" descr="Computer with solid fill">
            <a:extLst>
              <a:ext uri="{FF2B5EF4-FFF2-40B4-BE49-F238E27FC236}">
                <a16:creationId xmlns:a16="http://schemas.microsoft.com/office/drawing/2014/main" id="{9954D916-093D-0F9D-AE52-8D17C05CF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356" y="4136845"/>
            <a:ext cx="1219201" cy="1219201"/>
          </a:xfrm>
          <a:prstGeom prst="rect">
            <a:avLst/>
          </a:prstGeom>
        </p:spPr>
      </p:pic>
      <p:pic>
        <p:nvPicPr>
          <p:cNvPr id="13" name="Picture 12" descr="A black and white icon of a folder with a lock&#10;&#10;AI-generated content may be incorrect.">
            <a:extLst>
              <a:ext uri="{FF2B5EF4-FFF2-40B4-BE49-F238E27FC236}">
                <a16:creationId xmlns:a16="http://schemas.microsoft.com/office/drawing/2014/main" id="{3454A211-076D-C9D0-6FC8-95A9B03CBA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137192"/>
            <a:ext cx="1059024" cy="10856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CAC4AE-D0B6-8DE4-EC90-A14B9FF7A016}"/>
              </a:ext>
            </a:extLst>
          </p:cNvPr>
          <p:cNvSpPr txBox="1"/>
          <p:nvPr/>
        </p:nvSpPr>
        <p:spPr>
          <a:xfrm>
            <a:off x="6183089" y="1066081"/>
            <a:ext cx="2271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Client Machine</a:t>
            </a:r>
          </a:p>
          <a:p>
            <a:r>
              <a:rPr lang="en-GB" b="1" dirty="0"/>
              <a:t>e.g. Kali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6DEF0-0403-F3DC-FC4B-FFB74877F917}"/>
              </a:ext>
            </a:extLst>
          </p:cNvPr>
          <p:cNvSpPr txBox="1"/>
          <p:nvPr/>
        </p:nvSpPr>
        <p:spPr>
          <a:xfrm>
            <a:off x="728117" y="2720093"/>
            <a:ext cx="101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Firewall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48C87-F33D-A20F-F743-9B9894D7977F}"/>
              </a:ext>
            </a:extLst>
          </p:cNvPr>
          <p:cNvSpPr txBox="1"/>
          <p:nvPr/>
        </p:nvSpPr>
        <p:spPr>
          <a:xfrm>
            <a:off x="3954646" y="6455620"/>
            <a:ext cx="304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 Host </a:t>
            </a:r>
            <a:r>
              <a:rPr lang="en-GB" b="1" dirty="0"/>
              <a:t>e.g. Ubuntu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FDBB9-48C4-45BE-7B7F-BDF46D596D53}"/>
              </a:ext>
            </a:extLst>
          </p:cNvPr>
          <p:cNvSpPr/>
          <p:nvPr/>
        </p:nvSpPr>
        <p:spPr>
          <a:xfrm>
            <a:off x="240307" y="2677886"/>
            <a:ext cx="11559808" cy="37777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3B43E-105F-951B-5FC4-8093C9962527}"/>
              </a:ext>
            </a:extLst>
          </p:cNvPr>
          <p:cNvSpPr txBox="1"/>
          <p:nvPr/>
        </p:nvSpPr>
        <p:spPr>
          <a:xfrm>
            <a:off x="7318932" y="5218332"/>
            <a:ext cx="4043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Implement key base authentication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Disable the password login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MFA authentication 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B847B8-8B87-6A32-F7C1-F6D01934962E}"/>
              </a:ext>
            </a:extLst>
          </p:cNvPr>
          <p:cNvSpPr txBox="1"/>
          <p:nvPr/>
        </p:nvSpPr>
        <p:spPr>
          <a:xfrm>
            <a:off x="5970813" y="4408414"/>
            <a:ext cx="2057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Open SSH Server Port : 2220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0E1C8-CA0F-8BCC-64B0-FE008BC69D2F}"/>
              </a:ext>
            </a:extLst>
          </p:cNvPr>
          <p:cNvSpPr txBox="1"/>
          <p:nvPr/>
        </p:nvSpPr>
        <p:spPr>
          <a:xfrm>
            <a:off x="2547257" y="4370364"/>
            <a:ext cx="2057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Cowrie Honeypot Port : 2222</a:t>
            </a:r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51BEE0-B8B0-E992-28A0-7FEFACED110A}"/>
              </a:ext>
            </a:extLst>
          </p:cNvPr>
          <p:cNvSpPr txBox="1"/>
          <p:nvPr/>
        </p:nvSpPr>
        <p:spPr>
          <a:xfrm>
            <a:off x="228600" y="5137192"/>
            <a:ext cx="3215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Implement two users </a:t>
            </a:r>
            <a:r>
              <a:rPr lang="en-GB" b="1" dirty="0"/>
              <a:t>root</a:t>
            </a:r>
            <a:r>
              <a:rPr lang="en-GB" dirty="0"/>
              <a:t> and </a:t>
            </a:r>
            <a:r>
              <a:rPr lang="en-GB" b="1" dirty="0"/>
              <a:t>staff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Cowrie honeypot will simulates SSH activity and records all actions.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9C79A3-B2C6-ACB0-8FF4-4BE02DAE9A50}"/>
              </a:ext>
            </a:extLst>
          </p:cNvPr>
          <p:cNvSpPr txBox="1"/>
          <p:nvPr/>
        </p:nvSpPr>
        <p:spPr>
          <a:xfrm>
            <a:off x="728117" y="3089425"/>
            <a:ext cx="4163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Allow the incoming traffic of OpenSSH(port:2220 and Cowrie(2222).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Block the other traffic</a:t>
            </a:r>
          </a:p>
          <a:p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5B7BAC-F672-E5DF-418A-AB69122A36C1}"/>
              </a:ext>
            </a:extLst>
          </p:cNvPr>
          <p:cNvCxnSpPr>
            <a:cxnSpLocks/>
          </p:cNvCxnSpPr>
          <p:nvPr/>
        </p:nvCxnSpPr>
        <p:spPr>
          <a:xfrm>
            <a:off x="5029198" y="1527746"/>
            <a:ext cx="0" cy="11501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Graphic 6" descr="Connected with solid fill">
            <a:extLst>
              <a:ext uri="{FF2B5EF4-FFF2-40B4-BE49-F238E27FC236}">
                <a16:creationId xmlns:a16="http://schemas.microsoft.com/office/drawing/2014/main" id="{37602A31-CF95-A4D4-CD1F-7D22FF82E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2035" y="5287563"/>
            <a:ext cx="914400" cy="914400"/>
          </a:xfrm>
          <a:prstGeom prst="rect">
            <a:avLst/>
          </a:prstGeom>
        </p:spPr>
      </p:pic>
      <p:pic>
        <p:nvPicPr>
          <p:cNvPr id="9" name="Graphic 8" descr="Connected with solid fill">
            <a:extLst>
              <a:ext uri="{FF2B5EF4-FFF2-40B4-BE49-F238E27FC236}">
                <a16:creationId xmlns:a16="http://schemas.microsoft.com/office/drawing/2014/main" id="{F445E33F-50DA-C80D-D807-570BA9A8D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090710" y="5240999"/>
            <a:ext cx="855351" cy="914400"/>
          </a:xfrm>
          <a:prstGeom prst="rect">
            <a:avLst/>
          </a:prstGeom>
        </p:spPr>
      </p:pic>
      <p:pic>
        <p:nvPicPr>
          <p:cNvPr id="5" name="Graphic 4" descr="Connected with solid fill">
            <a:extLst>
              <a:ext uri="{FF2B5EF4-FFF2-40B4-BE49-F238E27FC236}">
                <a16:creationId xmlns:a16="http://schemas.microsoft.com/office/drawing/2014/main" id="{03183EE9-D154-5F1A-7CC2-9E6DB1286E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720033" y="3534868"/>
            <a:ext cx="855351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403261-E46B-3771-2D12-E4180E73A565}"/>
              </a:ext>
            </a:extLst>
          </p:cNvPr>
          <p:cNvSpPr txBox="1"/>
          <p:nvPr/>
        </p:nvSpPr>
        <p:spPr>
          <a:xfrm>
            <a:off x="6113431" y="3820655"/>
            <a:ext cx="283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IP address: 192.168.0.100</a:t>
            </a:r>
            <a:endParaRPr lang="en-US" b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6EAC0D-597A-B8F4-226F-1B7B23621C4E}"/>
              </a:ext>
            </a:extLst>
          </p:cNvPr>
          <p:cNvSpPr/>
          <p:nvPr/>
        </p:nvSpPr>
        <p:spPr>
          <a:xfrm>
            <a:off x="4604656" y="1527746"/>
            <a:ext cx="115372" cy="24336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9C57E6-6657-9A56-93E7-289B41E56EDD}"/>
              </a:ext>
            </a:extLst>
          </p:cNvPr>
          <p:cNvSpPr/>
          <p:nvPr/>
        </p:nvSpPr>
        <p:spPr>
          <a:xfrm>
            <a:off x="5181601" y="1527746"/>
            <a:ext cx="156768" cy="20317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6FE94-74A3-6D5E-164B-B38B9DB503F5}"/>
              </a:ext>
            </a:extLst>
          </p:cNvPr>
          <p:cNvSpPr txBox="1"/>
          <p:nvPr/>
        </p:nvSpPr>
        <p:spPr>
          <a:xfrm>
            <a:off x="1481901" y="1020406"/>
            <a:ext cx="283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IP address</a:t>
            </a:r>
            <a:r>
              <a:rPr lang="en-GB" b="1"/>
              <a:t>: 192.168.0.102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580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7 -0.00255 L 0.00794 0.29884 L -0.0082 0.30208 L -0.00911 0.3419 L -0.00911 0.37986 L -0.02786 0.37986 L -0.02786 0.44352 " pathEditMode="relative" ptsTypes="AAAAAAA"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7.40741E-7 L 0.01979 0.2578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79 0.25787 C 0.01979 0.27824 0.03047 0.29467 0.04362 0.29467 C 0.05912 0.29467 0.06472 0.27639 0.06719 0.26527 L 0.06953 0.25046 C 0.07188 0.23935 0.07787 0.22129 0.09545 0.22129 C 0.10651 0.22129 0.1194 0.2375 0.1194 0.25787 C 0.1194 0.27824 0.10651 0.29467 0.09545 0.29467 C 0.07787 0.29467 0.07188 0.27639 0.06953 0.26527 L 0.06719 0.25046 C 0.06472 0.23935 0.05912 0.22129 0.04362 0.22129 C 0.03047 0.22129 0.01979 0.2375 0.01979 0.25787 Z " pathEditMode="relative" rAng="0" ptsTypes="AAAAAAAAAAA">
                                      <p:cBhvr>
                                        <p:cTn id="2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20" grpId="0" animBg="1"/>
      <p:bldP spid="20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124</Words>
  <Application>Microsoft Office PowerPoint</Application>
  <PresentationFormat>Widescreen</PresentationFormat>
  <Paragraphs>19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Investigation into network security countermeasures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Tahiatul BHUIYAN</dc:creator>
  <cp:lastModifiedBy>Tahiatul Jannath</cp:lastModifiedBy>
  <cp:revision>9</cp:revision>
  <dcterms:created xsi:type="dcterms:W3CDTF">2025-10-13T07:43:38Z</dcterms:created>
  <dcterms:modified xsi:type="dcterms:W3CDTF">2026-08-11T12:28:27Z</dcterms:modified>
</cp:coreProperties>
</file>